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54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Sylinder 2">
            <a:extLst>
              <a:ext uri="{FF2B5EF4-FFF2-40B4-BE49-F238E27FC236}">
                <a16:creationId xmlns:a16="http://schemas.microsoft.com/office/drawing/2014/main" id="{6BBD8B4B-92D4-968B-0768-7EDD7DF492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b-NO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931920"/>
            <a:ext cx="457200" cy="109728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Shape 1"/>
          <p:cNvSpPr/>
          <p:nvPr/>
        </p:nvSpPr>
        <p:spPr>
          <a:xfrm>
            <a:off x="9326880" y="3200400"/>
            <a:ext cx="457200" cy="1828800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Shape 2"/>
          <p:cNvSpPr/>
          <p:nvPr/>
        </p:nvSpPr>
        <p:spPr>
          <a:xfrm>
            <a:off x="9966960" y="2468880"/>
            <a:ext cx="457200" cy="256032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10607040" y="1737360"/>
            <a:ext cx="457200" cy="3291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8778240" y="146304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taktiske nivået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strategien møter virkeligheten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1371600" cy="36576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Tjernsli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E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Sopra Steria  ·  Lynskarpen 2026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spørsmål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vi svarer ut sammen i dag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2194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er det taktiske nivået flaskehalsen i KI-omstillingen?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3154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Hvilke fire vegger hindrer verdiskapingen?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4114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 river vi dem ned?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37360" y="5074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 skjer egentlig samtalene som binder nivåene sammen?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gjør oss raskere. Men er vi raskere i riktig retning?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7492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A1133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37160" cy="420624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11430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FORSKER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3774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Raskere er ikke det samme som annerledes.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fleste virksomheter bruker KI til å gjøre det de allerede gjør, bare fortere. Den reelle gevinsten ligger i å jobbe annerledes.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Moe (legges inn)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07492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A1133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137160" cy="420624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10"/>
          <p:cNvSpPr/>
          <p:nvPr/>
        </p:nvSpPr>
        <p:spPr>
          <a:xfrm>
            <a:off x="67665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FORSKER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23774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styring kan gjøre vondt verre.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37490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finnes et punkt der mer styring slutter å hjelpe og begynner å undergrave selve verdien styringen skulle sikre.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Kuvaas (legges inn)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nivåer, én organisasjon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Brillene vi tar på oss for resten av foredraget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8229600" cy="1188720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LEVEL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Strategisk nivå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 skal vi? Hva er retningen, og hvordan vet vi om vi når dit?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9144000" cy="11887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LEVEL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721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Taktisk nivå (koordinering)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1422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Hvilke initiativer prioriterer vi? Hvordan henger arbeidet sammen?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10058400" cy="118872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LEVEL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138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Operativt nivå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5559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 jobber teamene? Hvor skapes verdien fra dag til dag?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 en organisasjonsmodell.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tenke- og kommunikasjonsverktøy for å se hvor verdi, beslutninger og informasjon faktisk beveger seg.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Inspirert av Klaus Leopold, Flight Levels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optimalisering,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suboptimalisering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høytytende team i en dysfunksjonell organisasjonsstruktur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leverer ikke mer verdi.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leverer raskere inn i de samme veggene.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solidFill>
            <a:srgbClr val="4A3A8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37160" cy="146304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96012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CONWAYS LOV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Organisasjoner produserer systemer som speiler deres kommunikasjonsstrukturer. Bygger du i siloer, leverer du i siloer.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Møt de fire veggene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Strukturelle hindringer som blokkerer verdistrømmen, sett gjennom Flight Levels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41168" y="2468880"/>
            <a:ext cx="6309360" cy="3108960"/>
          </a:xfrm>
          <a:prstGeom prst="rect">
            <a:avLst/>
          </a:prstGeom>
          <a:solidFill>
            <a:srgbClr val="E8E4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2666848" y="2194560"/>
            <a:ext cx="6858000" cy="2743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2666848" y="5577840"/>
            <a:ext cx="6858000" cy="2743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2666848" y="2194560"/>
            <a:ext cx="274320" cy="365760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9250528" y="2194560"/>
            <a:ext cx="274320" cy="365760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2941168" y="246888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PRODUKT-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66848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 1: Avdelingsgrenser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66848" y="5989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 4: Vi måler feil 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168" y="31089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 2: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Låste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budsjetter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07728" y="28346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 3: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eier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produktet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ende-til-ende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Avdelingsgrenser stopper innsikten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koordineringsproblem mellom Flight Level 1 og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029200" cy="54864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1 ↔ FL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Innsikten finnes i teamet. Den ser kunden, dataen og konsekvensen av beslutningene før noen andre gjør det.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innsikten når sjelden de som faktisk prioriterer. Den stoppes på funksjonsgrenser, vannes ut i statusrapporter og ender som kompromisser, ikke kunnskap.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Resultatet er at strategiske beslutninger tas på utdatert eller filtrert informasjon, mens teamet sitter med svaret de ikke får levert oppover.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102412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11155680" y="2743200"/>
            <a:ext cx="3291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8412480" y="3063240"/>
            <a:ext cx="4206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8869680" y="306324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9784080" y="306324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10698480" y="3063240"/>
            <a:ext cx="7863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84124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93268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102412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11155680" y="3383280"/>
            <a:ext cx="3291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8412480" y="3703320"/>
            <a:ext cx="4206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8869680" y="370332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9784080" y="370332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10698480" y="3703320"/>
            <a:ext cx="7863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84124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93268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102412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11155680" y="4023360"/>
            <a:ext cx="3291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Shape 26"/>
          <p:cNvSpPr/>
          <p:nvPr/>
        </p:nvSpPr>
        <p:spPr>
          <a:xfrm>
            <a:off x="8412480" y="4343400"/>
            <a:ext cx="4206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8869680" y="434340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Shape 28"/>
          <p:cNvSpPr/>
          <p:nvPr/>
        </p:nvSpPr>
        <p:spPr>
          <a:xfrm>
            <a:off x="9784080" y="434340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1" name="Shape 29"/>
          <p:cNvSpPr/>
          <p:nvPr/>
        </p:nvSpPr>
        <p:spPr>
          <a:xfrm>
            <a:off x="10698480" y="4343400"/>
            <a:ext cx="7863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2" name="Shape 30"/>
          <p:cNvSpPr/>
          <p:nvPr/>
        </p:nvSpPr>
        <p:spPr>
          <a:xfrm>
            <a:off x="84124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3" name="Shape 31"/>
          <p:cNvSpPr/>
          <p:nvPr/>
        </p:nvSpPr>
        <p:spPr>
          <a:xfrm>
            <a:off x="93268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4" name="Shape 32"/>
          <p:cNvSpPr/>
          <p:nvPr/>
        </p:nvSpPr>
        <p:spPr>
          <a:xfrm>
            <a:off x="102412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5" name="Shape 33"/>
          <p:cNvSpPr/>
          <p:nvPr/>
        </p:nvSpPr>
        <p:spPr>
          <a:xfrm>
            <a:off x="11155680" y="4663440"/>
            <a:ext cx="3291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34"/>
          <p:cNvSpPr/>
          <p:nvPr/>
        </p:nvSpPr>
        <p:spPr>
          <a:xfrm>
            <a:off x="8412480" y="4983480"/>
            <a:ext cx="4206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8869680" y="498348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8" name="Shape 36"/>
          <p:cNvSpPr/>
          <p:nvPr/>
        </p:nvSpPr>
        <p:spPr>
          <a:xfrm>
            <a:off x="9784080" y="498348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9" name="Shape 37"/>
          <p:cNvSpPr/>
          <p:nvPr/>
        </p:nvSpPr>
        <p:spPr>
          <a:xfrm>
            <a:off x="10698480" y="4983480"/>
            <a:ext cx="7863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0" name="Shape 38"/>
          <p:cNvSpPr/>
          <p:nvPr/>
        </p:nvSpPr>
        <p:spPr>
          <a:xfrm>
            <a:off x="84124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1" name="Shape 39"/>
          <p:cNvSpPr/>
          <p:nvPr/>
        </p:nvSpPr>
        <p:spPr>
          <a:xfrm>
            <a:off x="93268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2" name="Shape 40"/>
          <p:cNvSpPr/>
          <p:nvPr/>
        </p:nvSpPr>
        <p:spPr>
          <a:xfrm>
            <a:off x="102412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Shape 41"/>
          <p:cNvSpPr/>
          <p:nvPr/>
        </p:nvSpPr>
        <p:spPr>
          <a:xfrm>
            <a:off x="11155680" y="5303520"/>
            <a:ext cx="3291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4" name="Shape 42"/>
          <p:cNvSpPr/>
          <p:nvPr/>
        </p:nvSpPr>
        <p:spPr>
          <a:xfrm>
            <a:off x="8412480" y="5623560"/>
            <a:ext cx="4206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5" name="Shape 43"/>
          <p:cNvSpPr/>
          <p:nvPr/>
        </p:nvSpPr>
        <p:spPr>
          <a:xfrm>
            <a:off x="8869680" y="562356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Shape 44"/>
          <p:cNvSpPr/>
          <p:nvPr/>
        </p:nvSpPr>
        <p:spPr>
          <a:xfrm>
            <a:off x="9784080" y="562356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7" name="Shape 45"/>
          <p:cNvSpPr/>
          <p:nvPr/>
        </p:nvSpPr>
        <p:spPr>
          <a:xfrm>
            <a:off x="10698480" y="5623560"/>
            <a:ext cx="7863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8" name="Text 46"/>
          <p:cNvSpPr/>
          <p:nvPr/>
        </p:nvSpPr>
        <p:spPr>
          <a:xfrm>
            <a:off x="8412480" y="27432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0" dirty="0"/>
          </a:p>
        </p:txBody>
      </p:sp>
      <p:sp>
        <p:nvSpPr>
          <p:cNvPr id="49" name="Text 4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1" name="Shape 4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2" name="Shape 5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Budsjettene ble låst i januar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brudd mellom Flight Level 3 og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029200" cy="548640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2 ↔ FL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Strategien lever hele året. Budsjettene gjør det ikke.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mars dukker det opp en mulighet KI har avdekket. Gevinsten er stor, vinduet er kort, men pengene ble allokert i januar til noe annet.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Når finansieringen er statisk i en verden som er dynamisk, blir resultatet at vi gjennomfører fjorårets prioriteringer i et marked som har gått videre.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102412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11155680" y="2743200"/>
            <a:ext cx="3291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8412480" y="3063240"/>
            <a:ext cx="4206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8869680" y="306324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9784080" y="306324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10698480" y="3063240"/>
            <a:ext cx="7863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84124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93268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102412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11155680" y="3383280"/>
            <a:ext cx="3291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8412480" y="3703320"/>
            <a:ext cx="4206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8869680" y="370332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9784080" y="370332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10698480" y="3703320"/>
            <a:ext cx="7863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84124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93268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102412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11155680" y="4023360"/>
            <a:ext cx="3291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Shape 26"/>
          <p:cNvSpPr/>
          <p:nvPr/>
        </p:nvSpPr>
        <p:spPr>
          <a:xfrm>
            <a:off x="8412480" y="4343400"/>
            <a:ext cx="4206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8869680" y="434340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Shape 28"/>
          <p:cNvSpPr/>
          <p:nvPr/>
        </p:nvSpPr>
        <p:spPr>
          <a:xfrm>
            <a:off x="9784080" y="434340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1" name="Shape 29"/>
          <p:cNvSpPr/>
          <p:nvPr/>
        </p:nvSpPr>
        <p:spPr>
          <a:xfrm>
            <a:off x="10698480" y="4343400"/>
            <a:ext cx="7863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2" name="Shape 30"/>
          <p:cNvSpPr/>
          <p:nvPr/>
        </p:nvSpPr>
        <p:spPr>
          <a:xfrm>
            <a:off x="84124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3" name="Shape 31"/>
          <p:cNvSpPr/>
          <p:nvPr/>
        </p:nvSpPr>
        <p:spPr>
          <a:xfrm>
            <a:off x="93268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4" name="Shape 32"/>
          <p:cNvSpPr/>
          <p:nvPr/>
        </p:nvSpPr>
        <p:spPr>
          <a:xfrm>
            <a:off x="102412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5" name="Shape 33"/>
          <p:cNvSpPr/>
          <p:nvPr/>
        </p:nvSpPr>
        <p:spPr>
          <a:xfrm>
            <a:off x="11155680" y="4663440"/>
            <a:ext cx="3291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34"/>
          <p:cNvSpPr/>
          <p:nvPr/>
        </p:nvSpPr>
        <p:spPr>
          <a:xfrm>
            <a:off x="8412480" y="4983480"/>
            <a:ext cx="4206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8869680" y="498348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8" name="Shape 36"/>
          <p:cNvSpPr/>
          <p:nvPr/>
        </p:nvSpPr>
        <p:spPr>
          <a:xfrm>
            <a:off x="9784080" y="498348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9" name="Shape 37"/>
          <p:cNvSpPr/>
          <p:nvPr/>
        </p:nvSpPr>
        <p:spPr>
          <a:xfrm>
            <a:off x="10698480" y="4983480"/>
            <a:ext cx="7863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0" name="Shape 38"/>
          <p:cNvSpPr/>
          <p:nvPr/>
        </p:nvSpPr>
        <p:spPr>
          <a:xfrm>
            <a:off x="84124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1" name="Shape 39"/>
          <p:cNvSpPr/>
          <p:nvPr/>
        </p:nvSpPr>
        <p:spPr>
          <a:xfrm>
            <a:off x="93268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2" name="Shape 40"/>
          <p:cNvSpPr/>
          <p:nvPr/>
        </p:nvSpPr>
        <p:spPr>
          <a:xfrm>
            <a:off x="102412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Shape 41"/>
          <p:cNvSpPr/>
          <p:nvPr/>
        </p:nvSpPr>
        <p:spPr>
          <a:xfrm>
            <a:off x="11155680" y="5303520"/>
            <a:ext cx="3291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4" name="Shape 42"/>
          <p:cNvSpPr/>
          <p:nvPr/>
        </p:nvSpPr>
        <p:spPr>
          <a:xfrm>
            <a:off x="8412480" y="5623560"/>
            <a:ext cx="4206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5" name="Shape 43"/>
          <p:cNvSpPr/>
          <p:nvPr/>
        </p:nvSpPr>
        <p:spPr>
          <a:xfrm>
            <a:off x="8869680" y="562356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Shape 44"/>
          <p:cNvSpPr/>
          <p:nvPr/>
        </p:nvSpPr>
        <p:spPr>
          <a:xfrm>
            <a:off x="9784080" y="562356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7" name="Shape 45"/>
          <p:cNvSpPr/>
          <p:nvPr/>
        </p:nvSpPr>
        <p:spPr>
          <a:xfrm>
            <a:off x="10698480" y="5623560"/>
            <a:ext cx="7863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8" name="Text 46"/>
          <p:cNvSpPr/>
          <p:nvPr/>
        </p:nvSpPr>
        <p:spPr>
          <a:xfrm>
            <a:off x="8412480" y="27432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0" dirty="0"/>
          </a:p>
        </p:txBody>
      </p:sp>
      <p:sp>
        <p:nvSpPr>
          <p:cNvPr id="49" name="Text 4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1" name="Shape 4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2" name="Shape 5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eier produktet ende-til-ende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Fraværet av et fungerende Flight Level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029200" cy="54864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2 mangler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 har ansvar for biter. Ingen har mandat over helheten.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Når en beslutning krever at flere ledere blir enige uten at noen har myndighet til å fatte den, blir resultatet at den ikke tas. Den eskaleres, utsettes eller forvitrer i kompromisser.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velfungerende taktisk nivå krever en navngitt eier med både ansvar og myndighet for verdistrømmen, ikke en koordinator som må samle samtykke fra mange.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102412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11155680" y="2743200"/>
            <a:ext cx="3291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8412480" y="3063240"/>
            <a:ext cx="4206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8869680" y="306324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9784080" y="306324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10698480" y="3063240"/>
            <a:ext cx="7863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84124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93268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102412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11155680" y="3383280"/>
            <a:ext cx="3291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8412480" y="3703320"/>
            <a:ext cx="4206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8869680" y="370332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9784080" y="370332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10698480" y="3703320"/>
            <a:ext cx="7863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84124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93268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102412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11155680" y="4023360"/>
            <a:ext cx="3291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Shape 26"/>
          <p:cNvSpPr/>
          <p:nvPr/>
        </p:nvSpPr>
        <p:spPr>
          <a:xfrm>
            <a:off x="8412480" y="4343400"/>
            <a:ext cx="4206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8869680" y="434340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Shape 28"/>
          <p:cNvSpPr/>
          <p:nvPr/>
        </p:nvSpPr>
        <p:spPr>
          <a:xfrm>
            <a:off x="9784080" y="434340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1" name="Shape 29"/>
          <p:cNvSpPr/>
          <p:nvPr/>
        </p:nvSpPr>
        <p:spPr>
          <a:xfrm>
            <a:off x="10698480" y="4343400"/>
            <a:ext cx="7863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2" name="Shape 30"/>
          <p:cNvSpPr/>
          <p:nvPr/>
        </p:nvSpPr>
        <p:spPr>
          <a:xfrm>
            <a:off x="84124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3" name="Shape 31"/>
          <p:cNvSpPr/>
          <p:nvPr/>
        </p:nvSpPr>
        <p:spPr>
          <a:xfrm>
            <a:off x="93268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4" name="Shape 32"/>
          <p:cNvSpPr/>
          <p:nvPr/>
        </p:nvSpPr>
        <p:spPr>
          <a:xfrm>
            <a:off x="102412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5" name="Shape 33"/>
          <p:cNvSpPr/>
          <p:nvPr/>
        </p:nvSpPr>
        <p:spPr>
          <a:xfrm>
            <a:off x="11155680" y="4663440"/>
            <a:ext cx="3291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34"/>
          <p:cNvSpPr/>
          <p:nvPr/>
        </p:nvSpPr>
        <p:spPr>
          <a:xfrm>
            <a:off x="8412480" y="4983480"/>
            <a:ext cx="4206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8869680" y="498348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8" name="Shape 36"/>
          <p:cNvSpPr/>
          <p:nvPr/>
        </p:nvSpPr>
        <p:spPr>
          <a:xfrm>
            <a:off x="9784080" y="498348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9" name="Shape 37"/>
          <p:cNvSpPr/>
          <p:nvPr/>
        </p:nvSpPr>
        <p:spPr>
          <a:xfrm>
            <a:off x="10698480" y="4983480"/>
            <a:ext cx="7863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0" name="Shape 38"/>
          <p:cNvSpPr/>
          <p:nvPr/>
        </p:nvSpPr>
        <p:spPr>
          <a:xfrm>
            <a:off x="84124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1" name="Shape 39"/>
          <p:cNvSpPr/>
          <p:nvPr/>
        </p:nvSpPr>
        <p:spPr>
          <a:xfrm>
            <a:off x="93268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2" name="Shape 40"/>
          <p:cNvSpPr/>
          <p:nvPr/>
        </p:nvSpPr>
        <p:spPr>
          <a:xfrm>
            <a:off x="102412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Shape 41"/>
          <p:cNvSpPr/>
          <p:nvPr/>
        </p:nvSpPr>
        <p:spPr>
          <a:xfrm>
            <a:off x="11155680" y="5303520"/>
            <a:ext cx="3291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4" name="Shape 42"/>
          <p:cNvSpPr/>
          <p:nvPr/>
        </p:nvSpPr>
        <p:spPr>
          <a:xfrm>
            <a:off x="8412480" y="5623560"/>
            <a:ext cx="4206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5" name="Shape 43"/>
          <p:cNvSpPr/>
          <p:nvPr/>
        </p:nvSpPr>
        <p:spPr>
          <a:xfrm>
            <a:off x="8869680" y="562356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Shape 44"/>
          <p:cNvSpPr/>
          <p:nvPr/>
        </p:nvSpPr>
        <p:spPr>
          <a:xfrm>
            <a:off x="9784080" y="562356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7" name="Shape 45"/>
          <p:cNvSpPr/>
          <p:nvPr/>
        </p:nvSpPr>
        <p:spPr>
          <a:xfrm>
            <a:off x="10698480" y="5623560"/>
            <a:ext cx="7863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8" name="Text 46"/>
          <p:cNvSpPr/>
          <p:nvPr/>
        </p:nvSpPr>
        <p:spPr>
          <a:xfrm>
            <a:off x="8412480" y="27432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0" dirty="0"/>
          </a:p>
        </p:txBody>
      </p:sp>
      <p:sp>
        <p:nvSpPr>
          <p:cNvPr id="49" name="Text 4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1" name="Shape 4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2" name="Shape 5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måler feil 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Flight Level 3-problem som siger nedover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029200" cy="548640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3 ↘ FL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måler hva vi gjør, ikke hva vi oppnår. Aktivitet teller, men effekt er det som faktisk skal styre. Det er forskjellen som forsvinner i rapporteringen.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Resultatet er en organisasjon som er flink til å rapportere fremdrift, men mindre flink til å vite om den faktisk skapte verdi.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Når strategien kobles til feil indikatorer, ender også det daglige arbeidet til teamene på feil indikatorer. Veggen reises ikke nederst, den siger ned ovenfra.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Shape 8"/>
          <p:cNvSpPr/>
          <p:nvPr/>
        </p:nvSpPr>
        <p:spPr>
          <a:xfrm>
            <a:off x="10241280" y="274320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11155680" y="2743200"/>
            <a:ext cx="3291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8412480" y="3063240"/>
            <a:ext cx="4206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8869680" y="306324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9784080" y="306324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10698480" y="3063240"/>
            <a:ext cx="7863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Shape 14"/>
          <p:cNvSpPr/>
          <p:nvPr/>
        </p:nvSpPr>
        <p:spPr>
          <a:xfrm>
            <a:off x="84124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93268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6"/>
          <p:cNvSpPr/>
          <p:nvPr/>
        </p:nvSpPr>
        <p:spPr>
          <a:xfrm>
            <a:off x="10241280" y="338328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11155680" y="3383280"/>
            <a:ext cx="3291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8412480" y="3703320"/>
            <a:ext cx="4206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8869680" y="370332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9784080" y="370332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10698480" y="3703320"/>
            <a:ext cx="7863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84124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93268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Shape 24"/>
          <p:cNvSpPr/>
          <p:nvPr/>
        </p:nvSpPr>
        <p:spPr>
          <a:xfrm>
            <a:off x="10241280" y="402336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11155680" y="4023360"/>
            <a:ext cx="3291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Shape 26"/>
          <p:cNvSpPr/>
          <p:nvPr/>
        </p:nvSpPr>
        <p:spPr>
          <a:xfrm>
            <a:off x="8412480" y="4343400"/>
            <a:ext cx="4206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8869680" y="434340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Shape 28"/>
          <p:cNvSpPr/>
          <p:nvPr/>
        </p:nvSpPr>
        <p:spPr>
          <a:xfrm>
            <a:off x="9784080" y="434340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1" name="Shape 29"/>
          <p:cNvSpPr/>
          <p:nvPr/>
        </p:nvSpPr>
        <p:spPr>
          <a:xfrm>
            <a:off x="10698480" y="4343400"/>
            <a:ext cx="7863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2" name="Shape 30"/>
          <p:cNvSpPr/>
          <p:nvPr/>
        </p:nvSpPr>
        <p:spPr>
          <a:xfrm>
            <a:off x="84124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3" name="Shape 31"/>
          <p:cNvSpPr/>
          <p:nvPr/>
        </p:nvSpPr>
        <p:spPr>
          <a:xfrm>
            <a:off x="93268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4" name="Shape 32"/>
          <p:cNvSpPr/>
          <p:nvPr/>
        </p:nvSpPr>
        <p:spPr>
          <a:xfrm>
            <a:off x="10241280" y="466344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5" name="Shape 33"/>
          <p:cNvSpPr/>
          <p:nvPr/>
        </p:nvSpPr>
        <p:spPr>
          <a:xfrm>
            <a:off x="11155680" y="4663440"/>
            <a:ext cx="3291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34"/>
          <p:cNvSpPr/>
          <p:nvPr/>
        </p:nvSpPr>
        <p:spPr>
          <a:xfrm>
            <a:off x="8412480" y="4983480"/>
            <a:ext cx="4206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8869680" y="498348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8" name="Shape 36"/>
          <p:cNvSpPr/>
          <p:nvPr/>
        </p:nvSpPr>
        <p:spPr>
          <a:xfrm>
            <a:off x="9784080" y="4983480"/>
            <a:ext cx="87782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9" name="Shape 37"/>
          <p:cNvSpPr/>
          <p:nvPr/>
        </p:nvSpPr>
        <p:spPr>
          <a:xfrm>
            <a:off x="10698480" y="4983480"/>
            <a:ext cx="786384" cy="283464"/>
          </a:xfrm>
          <a:prstGeom prst="rect">
            <a:avLst/>
          </a:prstGeom>
          <a:solidFill>
            <a:srgbClr val="F26B7A">
              <a:alpha val="75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0" name="Shape 38"/>
          <p:cNvSpPr/>
          <p:nvPr/>
        </p:nvSpPr>
        <p:spPr>
          <a:xfrm>
            <a:off x="84124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1" name="Shape 39"/>
          <p:cNvSpPr/>
          <p:nvPr/>
        </p:nvSpPr>
        <p:spPr>
          <a:xfrm>
            <a:off x="93268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2" name="Shape 40"/>
          <p:cNvSpPr/>
          <p:nvPr/>
        </p:nvSpPr>
        <p:spPr>
          <a:xfrm>
            <a:off x="10241280" y="5303520"/>
            <a:ext cx="87782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Shape 41"/>
          <p:cNvSpPr/>
          <p:nvPr/>
        </p:nvSpPr>
        <p:spPr>
          <a:xfrm>
            <a:off x="11155680" y="5303520"/>
            <a:ext cx="329184" cy="283464"/>
          </a:xfrm>
          <a:prstGeom prst="rect">
            <a:avLst/>
          </a:prstGeom>
          <a:solidFill>
            <a:srgbClr val="F26B7A">
              <a:alpha val="6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4" name="Shape 42"/>
          <p:cNvSpPr/>
          <p:nvPr/>
        </p:nvSpPr>
        <p:spPr>
          <a:xfrm>
            <a:off x="8412480" y="5623560"/>
            <a:ext cx="4206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5" name="Shape 43"/>
          <p:cNvSpPr/>
          <p:nvPr/>
        </p:nvSpPr>
        <p:spPr>
          <a:xfrm>
            <a:off x="8869680" y="562356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Shape 44"/>
          <p:cNvSpPr/>
          <p:nvPr/>
        </p:nvSpPr>
        <p:spPr>
          <a:xfrm>
            <a:off x="9784080" y="5623560"/>
            <a:ext cx="87782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7" name="Shape 45"/>
          <p:cNvSpPr/>
          <p:nvPr/>
        </p:nvSpPr>
        <p:spPr>
          <a:xfrm>
            <a:off x="10698480" y="5623560"/>
            <a:ext cx="786384" cy="283464"/>
          </a:xfrm>
          <a:prstGeom prst="rect">
            <a:avLst/>
          </a:prstGeom>
          <a:solidFill>
            <a:srgbClr val="F26B7A">
              <a:alpha val="9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8" name="Text 46"/>
          <p:cNvSpPr/>
          <p:nvPr/>
        </p:nvSpPr>
        <p:spPr>
          <a:xfrm>
            <a:off x="8412480" y="27432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0" dirty="0"/>
          </a:p>
        </p:txBody>
      </p:sp>
      <p:sp>
        <p:nvSpPr>
          <p:cNvPr id="49" name="Text 4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1" name="Shape 4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2" name="Shape 5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Veggene revet 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strukturelle grep som åpner verdistrømmen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984" y="2194560"/>
            <a:ext cx="2212848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A1133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325984" y="2194560"/>
            <a:ext cx="2212848" cy="45720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463144" y="21945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VEGG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8864" y="283464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Verdistrømmer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8864" y="402336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Organisering rundt verdiskaping, ikke funksjon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8864" y="534924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7704" y="2194560"/>
            <a:ext cx="2212848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A1133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2657704" y="2194560"/>
            <a:ext cx="2212848" cy="457200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10"/>
          <p:cNvSpPr/>
          <p:nvPr/>
        </p:nvSpPr>
        <p:spPr>
          <a:xfrm>
            <a:off x="2794864" y="21945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VEGG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40584" y="283464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Produktportefølje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40584" y="402336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Fleksibel finansiering og løpende prioritering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40584" y="534924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9424" y="2194560"/>
            <a:ext cx="2212848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A1133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4989424" y="2194560"/>
            <a:ext cx="2212848" cy="45720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5126584" y="21945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VEGG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72304" y="283464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Tydelig eierskap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72304" y="402336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over hele verdistrømmen, ikke biter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72304" y="534924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21144" y="2194560"/>
            <a:ext cx="2212848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A1133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7321144" y="2194560"/>
            <a:ext cx="2212848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Text 22"/>
          <p:cNvSpPr/>
          <p:nvPr/>
        </p:nvSpPr>
        <p:spPr>
          <a:xfrm>
            <a:off x="7458304" y="21945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VEGG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04024" y="283464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og effektmåling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04024" y="402336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Resultater fremfor aktiviteter, løpende læring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04024" y="534924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52864" y="2194560"/>
            <a:ext cx="2212848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A1133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9652864" y="2194560"/>
            <a:ext cx="2212848" cy="457200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Text 28"/>
          <p:cNvSpPr/>
          <p:nvPr/>
        </p:nvSpPr>
        <p:spPr>
          <a:xfrm>
            <a:off x="9790024" y="21945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GJØR DET SKALERBART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35744" y="283464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 og muliggjøring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35744" y="402336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Felles fundament som hindrer at veggene reises på nytt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35744" y="534924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3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01 · RIVER VEGG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rundt verdistrømmer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Følg verdiskapingen, ikke organisasjonskartet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LEVEL 1 møter FLIGHT LEVEL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73152" cy="86868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betyr det i praksis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Tverrfaglige team som eier en hel verdistrøm fra ende til ende, fra problemforståelse til effektmåling.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det river veggen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Når ansvaret for verdien ligger i teamet, slutter innsikten å forsvinne på funksjonsgrensene. Beslutninger tas der kunnskapen 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det krever av ledelsen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669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til å erstatte funksjonell rapporteringslinje med verdistrøm som styringsenhet, og tillit til at teamet kan eie helheten.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3108960"/>
            <a:ext cx="4023360" cy="3108960"/>
          </a:xfrm>
          <a:prstGeom prst="rect">
            <a:avLst/>
          </a:prstGeom>
          <a:solidFill>
            <a:srgbClr val="E8E4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76809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Sentrale skifter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37033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funksjon til verdistrøm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prosjektgrupper til varige team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leveranseansvar til verdiansvar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koordinering oppover til beslutning der kunnskapen 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02 · RIVER VEGG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prosjekt- til produktportefølje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Ressurser følger verdi, ikke kalender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LEVEL 2 møter FLIGHT LEVEL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73152" cy="86868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betyr det i praksis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Finansiering og prioritering håndteres som en levende portefølje av produkter, ikke som en låst liste av prosjekter med årlig budsjett.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det river veggen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Når penger og oppmerksomhet kan flyttes dit verdien er størst akkurat nå, slutter januar å diktere hva som er mulig i mars.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det krever av ledelsen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669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porteføljestyringsprosess som er kontinuerlig, ikke årlig, og som måler avkastning på faktisk verdi, ikke gjennomføring av planer.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3108960"/>
            <a:ext cx="4023360" cy="3108960"/>
          </a:xfrm>
          <a:prstGeom prst="rect">
            <a:avLst/>
          </a:prstGeom>
          <a:solidFill>
            <a:srgbClr val="E8E4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76809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Sentrale skifter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37033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investeringsgrunnlag til hypoteser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årlige budsjetter til løpende allokering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prosjektgodkjenning til verdivalidering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«start-stopp» til «start-skaler-stopp»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03 · RIVER VEGG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Tydelig produkteierskap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navngitt eier med mandat over hele verdistrømmen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LEVEL 2 styrkes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73152" cy="86868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betyr det i praksis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produkteier med både ansvar og myndighet, ikke en koordinator som forhandler frem enighet mellom ledere som hver eier sin bit.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det river veggen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Beslutninger som krever helhetsperspektiv blir tatt, ikke eskalert. Veivalg får retning, og teamet får noen å løse problemer sammen med.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det krever av ledelsen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669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Vilje til å gi reell beslutningsmyndighet ned, og til å støtte produkteieren også når en beslutning skal omprioritere på tvers av siloer.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3108960"/>
            <a:ext cx="4023360" cy="3108960"/>
          </a:xfrm>
          <a:prstGeom prst="rect">
            <a:avLst/>
          </a:prstGeom>
          <a:solidFill>
            <a:srgbClr val="E8E4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76809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Sentrale skifter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37033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mange ansvarlige til én eier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rolletittel til reelt mandat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koordinering til beslutning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leveransefokus til verdifokus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04 · RIVER VEGG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og løpende effektmåling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strategi til daglig arbeid med målbare resultater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LEVEL 3 møter FLIGHT LEVEL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73152" cy="86868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betyr det i praksis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Strategiske mål brytes ned til konkrete nøkkelresultater på team- og porteføljenivå, og effekt måles løpende, ikke ved årsslutt.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det river veggen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Når vi måler effekt fremfor aktivitet, slutter organisasjonen å rapportere fremdrift mot feil mål. Strategien testes i virkeligheten.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det krever av ledelsen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669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 i å formulere få, gode nøkkelresultater, og åpenhet for at læring kan endre retningen, ikke bare ambisjonsnivået.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3108960"/>
            <a:ext cx="4023360" cy="3108960"/>
          </a:xfrm>
          <a:prstGeom prst="rect">
            <a:avLst/>
          </a:prstGeom>
          <a:solidFill>
            <a:srgbClr val="E8E4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76809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Sentrale skifter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37033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aktivitet til effekt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årlig evaluering til løpende læring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rapportering oppover til styring sammen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mange KPI-er til få, betydningsfulle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05 · GJØR DET SKALERBART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Plattform- og muliggjøringsteam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Felles fundament som hindrer at veggene reises på nytt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TVERS AV ALLE FLIGHT LEVELS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73152" cy="86868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betyr det i praksis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Dedikerte team som leverer felles plattformer, data, sikkerhet og kompetanse som verdistrømsteamene kan bygge videre på.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det river veggen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 felles fundament må hvert team løse de samme grunnleggende problemene på nytt. Med plattformer kan teamene bruke energien på verdiskaping.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73152" cy="9601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868680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det krever av ledelsen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669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Tålmodighet, fordi plattforminvestering ikke gir umiddelbar verdi, men er forutsetningen for at de andre fire grepene faktisk kan skalere.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3108960"/>
            <a:ext cx="4023360" cy="3108960"/>
          </a:xfrm>
          <a:prstGeom prst="rect">
            <a:avLst/>
          </a:prstGeom>
          <a:solidFill>
            <a:srgbClr val="E8E4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768096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Sentrale skifter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0" y="37033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parallell innsats til felles fundament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prosjektplattform til produktplattform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IT-leveranse til internt produkt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brannslukking til muliggjøring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 skjer samtalene?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arenaer som binder Flight Levels sammen i praksis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017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A1133">
                <a:alpha val="10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017520" cy="502920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3 ↔ FL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Porteføljestyret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Strategisk koordinering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Sentralt spørsmål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skaper mest verdi nå? Hva stopper vi? Hva skalerer vi?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Ledere med mandat til å prioritere på tvers av verdistrømmer og allokere ressurser løpende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Kontinuerlig, ikke årlig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A1133">
                <a:alpha val="10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4572000" y="2011680"/>
            <a:ext cx="3017520" cy="5029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2 ↔ FL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Koordineringsarenaen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0060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Taktisk samordning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Sentralt spørsmål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931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blokkerer flyten mellom teamene denne uken?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4800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5074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Representanter fra produktteamene som har mandat til å løse avhengigheter der og 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Ukentlig, ikke statusrapportering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2011680"/>
            <a:ext cx="3017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A1133">
                <a:alpha val="10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8503920" y="2011680"/>
            <a:ext cx="3017520" cy="50292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Text 24"/>
          <p:cNvSpPr/>
          <p:nvPr/>
        </p:nvSpPr>
        <p:spPr>
          <a:xfrm>
            <a:off x="86868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3 ↔ HELE ORG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3252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Strategiforankringen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732520" y="3154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Retning og læring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Sentralt spørsmål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32520" y="3931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er retningen? Hva har vi lært siden sist?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4800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32520" y="5074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Ledelsen sammen med representanter fra koordineringsnivået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5760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5B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Kvartalsvis, dialog ikke monolog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34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PRAKTISK EKSEMPEL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Businessmap som bindeledd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verktøy som gjør dialogarenaene synlige og effektive på tvers av Flight Levels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858000" cy="1234440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· FLIGHT LEVEL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Strategiske initiativer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OKR-er og porteføljemål brytes ned til initiativer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6858000" cy="123444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KOORDINERING · FLIGHT LEVEL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Portefølje- og programtavler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Avhengigheter, fremdrift og flyt på tvers av team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6858000" cy="123444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868680" y="5212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GJENNOMFØRING · FLIGHT LEVEL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5486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Kanban for team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daglige arbeidet, koblet automatisk til nivåene 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2697480"/>
            <a:ext cx="54864" cy="3657600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79552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det løser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27889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Sanntidssynlighet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Strategi, koordinering og gjennomføring kobles automatisk. Status oppdateres når arbeidet beveger seg, ikke i et statusmøte.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Synlige avhengigheter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som blokkerer flyten kommer frem visuelt, ikke gjennom rapport.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Datadrevne beslutninger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Porteføljestyret kan prioritere basert på faktisk systemoppførsel, ikke synsing.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6446520"/>
            <a:ext cx="108813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nb-NO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HUSK:  </a:t>
            </a:r>
            <a:r>
              <a:rPr lang="en-US" sz="1100" i="1" dirty="0">
                <a:solidFill>
                  <a:srgbClr val="6E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Verktøyet erstatter ikke samtalen. Det gjør at samtalen handler om de riktige tingene.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E6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taktiske nivået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oppsummert i ett bilde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2288" y="2103120"/>
            <a:ext cx="3657600" cy="502920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472288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2288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vegger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5168" y="33832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Avdelingsgrenser stopper innsikten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Budsjetter låst i januar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eier produktet ende-til-ende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måler feil 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67048" y="2103120"/>
            <a:ext cx="3657600" cy="502920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4267048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LØSNINGEN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67048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grep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49928" y="33832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Verdistrømmer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Produktportefølje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Tydelig eierskap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og effektmåling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 og muliggjøring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61808" y="2103120"/>
            <a:ext cx="3657600" cy="502920"/>
          </a:xfrm>
          <a:prstGeom prst="rect">
            <a:avLst/>
          </a:prstGeom>
          <a:solidFill>
            <a:srgbClr val="5BC2C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8061808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61808" y="2697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arenaer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44688" y="33832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Porteføljestyret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Koordineringsarenaen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Strategiforankringen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støttet av verktøy som binder dem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07028" y="4114800"/>
            <a:ext cx="0" cy="0"/>
          </a:xfrm>
          <a:prstGeom prst="rtTriangle">
            <a:avLst/>
          </a:prstGeom>
          <a:noFill/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7901788" y="4114800"/>
            <a:ext cx="0" cy="0"/>
          </a:xfrm>
          <a:prstGeom prst="rtTriangle">
            <a:avLst/>
          </a:prstGeom>
          <a:noFill/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Shape 18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Takk for meg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640080" y="3931920"/>
            <a:ext cx="5486400" cy="0"/>
          </a:xfrm>
          <a:prstGeom prst="line">
            <a:avLst/>
          </a:prstGeom>
          <a:noFill/>
          <a:ln w="19050">
            <a:solidFill>
              <a:srgbClr val="F26B7A"/>
            </a:solidFill>
            <a:prstDash val="dash"/>
          </a:ln>
        </p:spPr>
        <p:txBody>
          <a:bodyPr/>
          <a:lstStyle/>
          <a:p>
            <a:endParaRPr lang="nb-NO"/>
          </a:p>
        </p:txBody>
      </p:sp>
      <p:sp>
        <p:nvSpPr>
          <p:cNvPr id="4" name="Shape 2"/>
          <p:cNvSpPr/>
          <p:nvPr/>
        </p:nvSpPr>
        <p:spPr>
          <a:xfrm>
            <a:off x="5989320" y="3822192"/>
            <a:ext cx="274320" cy="274320"/>
          </a:xfrm>
          <a:prstGeom prst="ellipse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Tjernsli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E8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Sopra Steria  ·  Lynskarpen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 steria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6803136"/>
            <a:ext cx="4063898" cy="54864"/>
          </a:xfrm>
          <a:prstGeom prst="rect">
            <a:avLst/>
          </a:prstGeom>
          <a:solidFill>
            <a:srgbClr val="2A1A5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4063898" y="6803136"/>
            <a:ext cx="4063898" cy="54864"/>
          </a:xfrm>
          <a:prstGeom prst="rect">
            <a:avLst/>
          </a:prstGeom>
          <a:solidFill>
            <a:srgbClr val="F26B7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8127797" y="6803136"/>
            <a:ext cx="4063898" cy="54864"/>
          </a:xfrm>
          <a:prstGeom prst="rect">
            <a:avLst/>
          </a:prstGeom>
          <a:solidFill>
            <a:srgbClr val="F4B860"/>
          </a:solidFill>
          <a:ln/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5e6e129-f928-4a05-ae32-d838f6b21bdd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1786</Words>
  <Application>Microsoft Macintosh PowerPoint</Application>
  <PresentationFormat>Widescreen</PresentationFormat>
  <Paragraphs>307</Paragraphs>
  <Slides>20</Slides>
  <Notes>20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20</vt:i4>
      </vt:variant>
    </vt:vector>
  </HeadingPairs>
  <TitlesOfParts>
    <vt:vector size="24" baseType="lpstr">
      <vt:lpstr>Arial</vt:lpstr>
      <vt:lpstr>Calibri</vt:lpstr>
      <vt:lpstr>Tahoma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 taktiske nivået - Lynskarpen 2026</dc:title>
  <dc:subject>PptxGenJS Presentation</dc:subject>
  <dc:creator>Andreas Tjernsli</dc:creator>
  <cp:lastModifiedBy>TJERNSLI Andreas</cp:lastModifiedBy>
  <cp:revision>2</cp:revision>
  <dcterms:created xsi:type="dcterms:W3CDTF">2026-05-08T20:05:49Z</dcterms:created>
  <dcterms:modified xsi:type="dcterms:W3CDTF">2026-05-08T20:10:25Z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C2 - Restricted use </vt:lpwstr>
  </property>
</Properties>
</file>